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12192000"/>
  <p:notesSz cx="6858000" cy="9144000"/>
  <p:embeddedFontLst>
    <p:embeddedFont>
      <p:font typeface="Plus Jakarta Sans"/>
      <p:regular r:id="rId25"/>
      <p:bold r:id="rId26"/>
      <p:italic r:id="rId27"/>
      <p:boldItalic r:id="rId28"/>
    </p:embeddedFont>
    <p:embeddedFont>
      <p:font typeface="Space Grotesk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1530DF6-C77D-4901-BEC2-26A5F82049F2}">
  <a:tblStyle styleId="{41530DF6-C77D-4901-BEC2-26A5F82049F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lusJakartaSans-bold.fntdata"/><Relationship Id="rId25" Type="http://schemas.openxmlformats.org/officeDocument/2006/relationships/font" Target="fonts/PlusJakartaSans-regular.fntdata"/><Relationship Id="rId28" Type="http://schemas.openxmlformats.org/officeDocument/2006/relationships/font" Target="fonts/PlusJakartaSans-boldItalic.fntdata"/><Relationship Id="rId27" Type="http://schemas.openxmlformats.org/officeDocument/2006/relationships/font" Target="fonts/PlusJakartaSa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SpaceGrotesk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SpaceGrotesk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h55b8d917e8b28c24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h55b8d917e8b28c24_1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55b8d917e8b28c24_1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h55b8d917e8b28c24_1_1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h55b8d917e8b28c24_1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h55b8d917e8b28c24_1_2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h55b8d917e8b28c24_1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h55b8d917e8b28c24_1_2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h55b8d917e8b28c24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h55b8d917e8b28c24_9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h55b8d917e8b28c24_9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h55b8d917e8b28c24_9_1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h55b8d917e8b28c24_9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h55b8d917e8b28c24_9_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h55b8d917e8b28c24_9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h55b8d917e8b28c24_9_2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h280f687bdefe8807_9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h280f687bdefe8807_9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62000" y="4689127"/>
            <a:ext cx="609600" cy="38100"/>
          </a:xfrm>
          <a:prstGeom prst="rect">
            <a:avLst/>
          </a:prstGeom>
          <a:solidFill>
            <a:srgbClr val="03AC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762000" y="2130772"/>
            <a:ext cx="11430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AC0E"/>
                </a:solidFill>
                <a:latin typeface="Space Grotesk"/>
                <a:ea typeface="Space Grotesk"/>
                <a:cs typeface="Space Grotesk"/>
                <a:sym typeface="Space Grotesk"/>
              </a:rPr>
              <a:t>TOKOPEDIA STRATEGIC REVIEW 2024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2483197"/>
            <a:ext cx="9301200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Promo Efficiency &amp; </a:t>
            </a:r>
            <a:r>
              <a:rPr b="1" lang="en-US" sz="390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Retention churn Analysis 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3812827"/>
            <a:ext cx="7143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data-driven roadmap to curb promo budget waste, fix fulfillment SLA breaches, and protect long-term customer retention.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609600" y="2849760"/>
            <a:ext cx="2042100" cy="2114700"/>
          </a:xfrm>
          <a:prstGeom prst="roundRect">
            <a:avLst>
              <a:gd fmla="val 652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2842319" y="2849760"/>
            <a:ext cx="2042100" cy="2114700"/>
          </a:xfrm>
          <a:prstGeom prst="roundRect">
            <a:avLst>
              <a:gd fmla="val 652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5075039" y="2849760"/>
            <a:ext cx="2042100" cy="2114700"/>
          </a:xfrm>
          <a:prstGeom prst="roundRect">
            <a:avLst>
              <a:gd fmla="val 652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7307758" y="2849760"/>
            <a:ext cx="2042100" cy="2114700"/>
          </a:xfrm>
          <a:prstGeom prst="roundRect">
            <a:avLst>
              <a:gd fmla="val 652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9540478" y="2849760"/>
            <a:ext cx="2042100" cy="2114700"/>
          </a:xfrm>
          <a:prstGeom prst="roundRect">
            <a:avLst>
              <a:gd fmla="val 652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609600" y="2849760"/>
            <a:ext cx="38100" cy="2114700"/>
          </a:xfrm>
          <a:prstGeom prst="rect">
            <a:avLst/>
          </a:prstGeom>
          <a:solidFill>
            <a:srgbClr val="03AC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2842319" y="2849760"/>
            <a:ext cx="38100" cy="21147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5075039" y="2849760"/>
            <a:ext cx="38100" cy="21147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7307758" y="2849760"/>
            <a:ext cx="38100" cy="21147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9540478" y="2849760"/>
            <a:ext cx="38100" cy="21147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3AC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TABLE OF CONTENTS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09600" y="704850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Presentation Structure &amp; Analytical Roadmap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76300" y="3116460"/>
            <a:ext cx="1933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SECTION 01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76300" y="3364110"/>
            <a:ext cx="1724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Executive Summary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76300" y="3897510"/>
            <a:ext cx="16422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Strategic context, CLV:CAC erosion, and core diagnostics.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3109019" y="3116460"/>
            <a:ext cx="1933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SECTION 02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3109019" y="3364110"/>
            <a:ext cx="1724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&amp; Business Context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3109019" y="3897510"/>
            <a:ext cx="16422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Market landscape, GoTo efficiency precedent, and scope.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5341739" y="3116460"/>
            <a:ext cx="1933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SECTION 03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5341739" y="3364110"/>
            <a:ext cx="17244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Quality Audit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5341739" y="3897510"/>
            <a:ext cx="16422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Sanitization of corrupt timestamps, SLA logs, and types.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7574458" y="3116460"/>
            <a:ext cx="1933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F44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SECTION 04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7574458" y="3364110"/>
            <a:ext cx="1724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Exploratory Analysis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7574458" y="3897510"/>
            <a:ext cx="16422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Promo leakage, channel ROI, and logistics churn cliff.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9807178" y="3116460"/>
            <a:ext cx="1933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366F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SECTION 05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9807178" y="3364110"/>
            <a:ext cx="17244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Strategic Roadmap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9807178" y="3897510"/>
            <a:ext cx="16422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Milestone incentives, carrier SLA contracts, and targets.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"/>
          <p:cNvSpPr/>
          <p:nvPr/>
        </p:nvSpPr>
        <p:spPr>
          <a:xfrm>
            <a:off x="609600" y="2866132"/>
            <a:ext cx="3505200" cy="2081700"/>
          </a:xfrm>
          <a:prstGeom prst="roundRect">
            <a:avLst>
              <a:gd fmla="val 6405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4343400" y="2866132"/>
            <a:ext cx="3505200" cy="2081700"/>
          </a:xfrm>
          <a:prstGeom prst="roundRect">
            <a:avLst>
              <a:gd fmla="val 6405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8077200" y="2866132"/>
            <a:ext cx="3505200" cy="2081700"/>
          </a:xfrm>
          <a:prstGeom prst="roundRect">
            <a:avLst>
              <a:gd fmla="val 6405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6" name="Google Shape;12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3170932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8200" y="3170932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2000" y="3170932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3AC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EXECUTIVE SUMMARY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09600" y="704850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Diagnostics: GMV Scale vs Margin Health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914400" y="3590032"/>
            <a:ext cx="3800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Unit Economics Erosion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914400" y="3923407"/>
            <a:ext cx="29910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CLV:CAC drops to ~1.2x during major WIB promo campaigns.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4648200" y="3590032"/>
            <a:ext cx="3800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Retention Contraction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4648200" y="3923407"/>
            <a:ext cx="29910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90-day repeat order rate contracted from ~40% to below 25%.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8382000" y="3590032"/>
            <a:ext cx="3800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Post-Purchase Friction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8382000" y="3923407"/>
            <a:ext cx="29910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First-order delivery failure triggers severe long-term churn.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"/>
          <p:cNvSpPr/>
          <p:nvPr/>
        </p:nvSpPr>
        <p:spPr>
          <a:xfrm>
            <a:off x="609600" y="2784276"/>
            <a:ext cx="5308500" cy="2169300"/>
          </a:xfrm>
          <a:prstGeom prst="roundRect">
            <a:avLst>
              <a:gd fmla="val 614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6299150" y="2998589"/>
            <a:ext cx="5283300" cy="7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6299150" y="3964185"/>
            <a:ext cx="5283300" cy="7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6299150" y="2998589"/>
            <a:ext cx="38100" cy="775200"/>
          </a:xfrm>
          <a:prstGeom prst="rect">
            <a:avLst/>
          </a:prstGeom>
          <a:solidFill>
            <a:srgbClr val="03AC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6299150" y="3964185"/>
            <a:ext cx="38100" cy="775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3AC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BUSINESS UNDERSTANDING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609600" y="704850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Growth Dilemma: Market Share vs Cash Discipline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952500" y="3127176"/>
            <a:ext cx="6067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GoTo Group Precedent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952500" y="3498651"/>
            <a:ext cx="47181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corporate incentive cut of Rp2.8T mandated a shift toward high-quality, profitable users.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952500" y="4130873"/>
            <a:ext cx="47181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Tokopedia holds 34% of national GMV ($65B) but faces a consumer base with 51% discount seekers.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6565850" y="2998589"/>
            <a:ext cx="5626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Discount Seeker Dominance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6565850" y="3293864"/>
            <a:ext cx="51117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Users transact strictly on coupon availability and leave when subsidies end.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6565850" y="3964185"/>
            <a:ext cx="5626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Margin Cannibalization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6565850" y="4259460"/>
            <a:ext cx="51117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Upfront price slashing fails to cultivate sticky organic shopping habits.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/>
          <p:nvPr/>
        </p:nvSpPr>
        <p:spPr>
          <a:xfrm>
            <a:off x="4260800" y="3335535"/>
            <a:ext cx="9600" cy="1143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7921525" y="3335535"/>
            <a:ext cx="9600" cy="1143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3AC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UNDERSTANDING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609600" y="704850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Scope of Data &amp; Core Analytical Entities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153199" y="3345060"/>
            <a:ext cx="4563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24 M</a:t>
            </a:r>
            <a:r>
              <a:rPr b="1" lang="en-US" sz="48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onths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153199" y="4030860"/>
            <a:ext cx="4563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Transaction Window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153199" y="4288035"/>
            <a:ext cx="45639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Jan 2023 – Dec 2024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3813925" y="3345060"/>
            <a:ext cx="4563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50K+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3813925" y="4030860"/>
            <a:ext cx="4563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Unique User Profiles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3813925" y="4288035"/>
            <a:ext cx="45639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Distinct Users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7474650" y="3345060"/>
            <a:ext cx="4563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03AC0E"/>
                </a:solidFill>
                <a:latin typeface="Space Grotesk"/>
                <a:ea typeface="Space Grotesk"/>
                <a:cs typeface="Space Grotesk"/>
                <a:sym typeface="Space Grotesk"/>
              </a:rPr>
              <a:t>5</a:t>
            </a:r>
            <a:r>
              <a:rPr b="1" i="0" lang="en-US" sz="4800" u="none" cap="none" strike="noStrike">
                <a:solidFill>
                  <a:srgbClr val="03AC0E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b="1" lang="en-US" sz="4800">
                <a:solidFill>
                  <a:srgbClr val="03AC0E"/>
                </a:solidFill>
                <a:latin typeface="Space Grotesk"/>
                <a:ea typeface="Space Grotesk"/>
                <a:cs typeface="Space Grotesk"/>
                <a:sym typeface="Space Grotesk"/>
              </a:rPr>
              <a:t>Tables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7474650" y="4030860"/>
            <a:ext cx="4563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Integrated Vectors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7474650" y="4288035"/>
            <a:ext cx="45639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Transactions, users, deliveries, sellers and CS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6" name="Google Shape;176;p18"/>
          <p:cNvGraphicFramePr/>
          <p:nvPr/>
        </p:nvGraphicFramePr>
        <p:xfrm>
          <a:off x="609600" y="2163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{41530DF6-C77D-4901-BEC2-26A5F82049F2}</a:tableStyleId>
              </a:tblPr>
              <a:tblGrid>
                <a:gridCol w="2436750"/>
                <a:gridCol w="2995900"/>
                <a:gridCol w="2949775"/>
                <a:gridCol w="2590350"/>
              </a:tblGrid>
              <a:tr h="56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Entity / Column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Raw Data Issue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Imputation / Treatment Applied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Analytical Impact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users.gender &amp; referral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Missing categorical records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Filled with 'unknown' &amp; 'no referral'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Zero user row drop on joins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transactions.voucher_type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Nulls when promo_amount = 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Set 'no voucher' if 0, else 'unknown'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Clear promo classification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courier_rating &amp; csat_score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Missing numerical </a:t>
                      </a:r>
                      <a:r>
                        <a:rPr lang="en-US" sz="1275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values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Median imputation per attribute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Robust against skewed outliers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EF444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Timestamps (1970/2030)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Corrupt dates &amp; dispatch date &lt; order </a:t>
                      </a:r>
                      <a:r>
                        <a:rPr lang="en-US" sz="1275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Filtered to 2023–2024 sequence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Accurate SLA calculation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03AC0E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Typecast &amp; Deduplication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Decimal SQL types &amp; same-day rows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Cast to float + first-order flag dedup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Exact Python vs Tableau parity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7" name="Google Shape;177;p18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F44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QUALITY AUDIT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609600" y="704850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Sanitization Logic &amp; Missing Value Strategy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"/>
          <p:cNvSpPr/>
          <p:nvPr/>
        </p:nvSpPr>
        <p:spPr>
          <a:xfrm>
            <a:off x="7121276" y="2630685"/>
            <a:ext cx="4461000" cy="1133400"/>
          </a:xfrm>
          <a:prstGeom prst="roundRect">
            <a:avLst>
              <a:gd fmla="val 1008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7121276" y="3935610"/>
            <a:ext cx="4461000" cy="1133400"/>
          </a:xfrm>
          <a:prstGeom prst="roundRect">
            <a:avLst>
              <a:gd fmla="val 1008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7121276" y="2630685"/>
            <a:ext cx="38100" cy="1133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7121276" y="3935610"/>
            <a:ext cx="38100" cy="1133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659135"/>
            <a:ext cx="6168775" cy="438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3425" y="1782960"/>
            <a:ext cx="5921127" cy="413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3AC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HISTORICAL TREND ANALYSIS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609600" y="704850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Monthly Order Volume vs. Promo Spend Burn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7387976" y="2859285"/>
            <a:ext cx="4803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Post-Subsidy Volume Contraction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7387976" y="3135510"/>
            <a:ext cx="406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Orders dropped from 45k to 7k as early promo burn cooled down.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7387976" y="4164210"/>
            <a:ext cx="4803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Stabilization Plateau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7387976" y="4440435"/>
            <a:ext cx="406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Volume found steady organic baseline around 7k–8k orders throughout 2024.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9" name="Google Shape;199;p20"/>
          <p:cNvGraphicFramePr/>
          <p:nvPr/>
        </p:nvGraphicFramePr>
        <p:xfrm>
          <a:off x="609600" y="39260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{41530DF6-C77D-4901-BEC2-26A5F82049F2}</a:tableStyleId>
              </a:tblPr>
              <a:tblGrid>
                <a:gridCol w="1328150"/>
                <a:gridCol w="2569375"/>
                <a:gridCol w="2395525"/>
                <a:gridCol w="2221850"/>
                <a:gridCol w="2457900"/>
              </a:tblGrid>
              <a:tr h="52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Channel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Promo Spend Share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Repeat Order Rate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Return on Promo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Strategic Action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2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EF444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Ads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33</a:t>
                      </a: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.</a:t>
                      </a:r>
                      <a:r>
                        <a:rPr lang="en-US" sz="13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</a:t>
                      </a: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96.4</a:t>
                      </a: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EF444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Lowest (</a:t>
                      </a:r>
                      <a:r>
                        <a:rPr b="1" lang="en-US" sz="1350">
                          <a:solidFill>
                            <a:srgbClr val="EF444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39.1</a:t>
                      </a:r>
                      <a:r>
                        <a:rPr b="1" i="0" lang="en-US" sz="1350" u="none" cap="none" strike="noStrike">
                          <a:solidFill>
                            <a:srgbClr val="EF444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x)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Maintain as baseline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2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3AC0E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Organic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41.9</a:t>
                      </a: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95.3</a:t>
                      </a: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3AC0E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High (</a:t>
                      </a:r>
                      <a:r>
                        <a:rPr b="1" lang="en-US" sz="1350">
                          <a:solidFill>
                            <a:srgbClr val="03AC0E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40</a:t>
                      </a:r>
                      <a:r>
                        <a:rPr b="1" i="0" lang="en-US" sz="1350" u="none" cap="none" strike="noStrike">
                          <a:solidFill>
                            <a:srgbClr val="03AC0E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.</a:t>
                      </a:r>
                      <a:r>
                        <a:rPr b="1" lang="en-US" sz="1350">
                          <a:solidFill>
                            <a:srgbClr val="03AC0E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</a:t>
                      </a:r>
                      <a:r>
                        <a:rPr b="1" i="0" lang="en-US" sz="1350" u="none" cap="none" strike="noStrike">
                          <a:solidFill>
                            <a:srgbClr val="03AC0E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x)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Scale SEO &amp; search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2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284C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Referral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14.8</a:t>
                      </a: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95.6</a:t>
                      </a: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284C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Highest (</a:t>
                      </a:r>
                      <a:r>
                        <a:rPr b="1" lang="en-US" sz="1350">
                          <a:solidFill>
                            <a:srgbClr val="0284C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42</a:t>
                      </a:r>
                      <a:r>
                        <a:rPr b="1" i="0" lang="en-US" sz="1350" u="none" cap="none" strike="noStrike">
                          <a:solidFill>
                            <a:srgbClr val="0284C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.</a:t>
                      </a:r>
                      <a:r>
                        <a:rPr b="1" lang="en-US" sz="1350">
                          <a:solidFill>
                            <a:srgbClr val="0284C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</a:t>
                      </a:r>
                      <a:r>
                        <a:rPr b="1" i="0" lang="en-US" sz="1350" u="none" cap="none" strike="noStrike">
                          <a:solidFill>
                            <a:srgbClr val="0284C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x)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Incentivize loops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2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>
                          <a:solidFill>
                            <a:srgbClr val="03AC0E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Affiliate</a:t>
                      </a:r>
                      <a:endParaRPr>
                        <a:solidFill>
                          <a:srgbClr val="03AC0E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9.8</a:t>
                      </a: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95.9</a:t>
                      </a: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>
                          <a:solidFill>
                            <a:srgbClr val="03AC0E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High (40.9</a:t>
                      </a:r>
                      <a:r>
                        <a:rPr b="1" i="0" lang="en-US" sz="1350" u="none" cap="none" strike="noStrike">
                          <a:solidFill>
                            <a:srgbClr val="03AC0E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x)</a:t>
                      </a:r>
                      <a:endParaRPr>
                        <a:solidFill>
                          <a:srgbClr val="03AC0E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Introduce more Affiliate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0" name="Google Shape;200;p2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3AC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CHANNEL ALLOCATION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Acquisition ROI &amp; Channel Performance</a:t>
            </a:r>
            <a:endParaRPr/>
          </a:p>
        </p:txBody>
      </p:sp>
      <p:pic>
        <p:nvPicPr>
          <p:cNvPr id="202" name="Google Shape;2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" y="1070525"/>
            <a:ext cx="6603049" cy="278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1"/>
          <p:cNvSpPr/>
          <p:nvPr/>
        </p:nvSpPr>
        <p:spPr>
          <a:xfrm>
            <a:off x="609600" y="2859285"/>
            <a:ext cx="10972800" cy="228600"/>
          </a:xfrm>
          <a:prstGeom prst="roundRect">
            <a:avLst>
              <a:gd fmla="val 33333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609600" y="3535560"/>
            <a:ext cx="10972800" cy="228600"/>
          </a:xfrm>
          <a:prstGeom prst="roundRect">
            <a:avLst>
              <a:gd fmla="val 33333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609600" y="4211835"/>
            <a:ext cx="10972800" cy="228600"/>
          </a:xfrm>
          <a:prstGeom prst="roundRect">
            <a:avLst>
              <a:gd fmla="val 33333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609600" y="4888110"/>
            <a:ext cx="10972800" cy="228600"/>
          </a:xfrm>
          <a:prstGeom prst="roundRect">
            <a:avLst>
              <a:gd fmla="val 33333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609600" y="2859285"/>
            <a:ext cx="4663380" cy="228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609600" y="3535560"/>
            <a:ext cx="3072258" cy="2286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609600" y="4211835"/>
            <a:ext cx="2029866" cy="228600"/>
          </a:xfrm>
          <a:prstGeom prst="rect">
            <a:avLst/>
          </a:prstGeom>
          <a:solidFill>
            <a:srgbClr val="03AC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609600" y="4888110"/>
            <a:ext cx="1206996" cy="2286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3AC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AUDIENCE COMPOSITION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Promo Budget Allocation by Customer Segment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609600" y="2583060"/>
            <a:ext cx="294084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Discount Seekers (Churned)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11010900" y="2583060"/>
            <a:ext cx="8572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F44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42.5%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609600" y="3259335"/>
            <a:ext cx="213121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Promo-Driven Loyal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11001375" y="3259335"/>
            <a:ext cx="8667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28.0%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609600" y="3935610"/>
            <a:ext cx="1809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High-Value Loyal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11058525" y="3935610"/>
            <a:ext cx="8096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3AC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18.5%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609600" y="4611885"/>
            <a:ext cx="250031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One-Time (Low Promo)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11077575" y="4611885"/>
            <a:ext cx="7905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11.0%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2"/>
          <p:cNvSpPr/>
          <p:nvPr/>
        </p:nvSpPr>
        <p:spPr>
          <a:xfrm>
            <a:off x="609550" y="4074485"/>
            <a:ext cx="5308500" cy="2133600"/>
          </a:xfrm>
          <a:prstGeom prst="roundRect">
            <a:avLst>
              <a:gd fmla="val 625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6152900" y="2691935"/>
            <a:ext cx="5283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6152900" y="3739685"/>
            <a:ext cx="5283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3258988" y="4417385"/>
            <a:ext cx="9600" cy="10383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6152900" y="2691935"/>
            <a:ext cx="38100" cy="857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6152900" y="3739685"/>
            <a:ext cx="38100" cy="857400"/>
          </a:xfrm>
          <a:prstGeom prst="rect">
            <a:avLst/>
          </a:prstGeom>
          <a:solidFill>
            <a:srgbClr val="03AC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3AC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RETENTION COHORTS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90-Day Repeat Order Rate by First Purchase Promo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374606" y="5569910"/>
            <a:ext cx="57783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Difference is statistically insignificant (+0.02% variance).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6419600" y="2691935"/>
            <a:ext cx="5626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Promos Do Not Drive Retention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6419600" y="3034835"/>
            <a:ext cx="51117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Subsidizing the first order produces identical repeat purchase rates as organic buyers.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6419600" y="3739685"/>
            <a:ext cx="5626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Capital Misallocation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6419600" y="4082585"/>
            <a:ext cx="51117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Upfront subsidies subsidize baseline demand rather than habituating usage.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1027161" y="4417385"/>
            <a:ext cx="189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Non-Promo Cohort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1027161" y="4693610"/>
            <a:ext cx="1893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76.5%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1027161" y="5284160"/>
            <a:ext cx="1893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19,705 Users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3607246" y="4417385"/>
            <a:ext cx="189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Promo Cohort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3607246" y="4693610"/>
            <a:ext cx="1893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76.6%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3607246" y="5284160"/>
            <a:ext cx="1893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27,671 Users</a:t>
            </a:r>
            <a:endParaRPr/>
          </a:p>
        </p:txBody>
      </p:sp>
      <p:pic>
        <p:nvPicPr>
          <p:cNvPr id="248" name="Google Shape;24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1675" y="1165775"/>
            <a:ext cx="4504250" cy="2813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3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pc="75" sz="1050">
                <a:solidFill>
                  <a:srgbClr val="03AC0E"/>
                </a:solidFill>
                <a:highlight>
                  <a:srgbClr val="FFFFFF"/>
                </a:highlight>
                <a:latin typeface="Plus Jakarta Sans"/>
                <a:ea typeface="Plus Jakarta Sans"/>
                <a:cs typeface="Plus Jakarta Sans"/>
                <a:sym typeface="Plus Jakarta Sans"/>
              </a:rPr>
              <a:t>VOUCHER TYPE ANALYSIS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609600" y="704850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SzPts val="1100"/>
              <a:buNone/>
            </a:pPr>
            <a:r>
              <a:rPr b="1" lang="en-US" sz="2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Repeat Order Rate Across Voucher Types</a:t>
            </a:r>
            <a:endParaRPr b="1" sz="24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55" name="Google Shape;255;p23" title="Screenshot 2026-10-19 at 22.16.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225" y="2168250"/>
            <a:ext cx="5890683" cy="339692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3"/>
          <p:cNvSpPr/>
          <p:nvPr/>
        </p:nvSpPr>
        <p:spPr>
          <a:xfrm>
            <a:off x="6152900" y="2633260"/>
            <a:ext cx="5283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6152900" y="3739685"/>
            <a:ext cx="5283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3"/>
          <p:cNvSpPr txBox="1"/>
          <p:nvPr/>
        </p:nvSpPr>
        <p:spPr>
          <a:xfrm>
            <a:off x="6419600" y="2474410"/>
            <a:ext cx="5626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SzPts val="1100"/>
              <a:buNone/>
            </a:pPr>
            <a:r>
              <a:rPr b="1" lang="en-US" sz="16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Similar  Retention Across Types</a:t>
            </a:r>
            <a:endParaRPr b="1" sz="16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59" name="Google Shape;259;p23"/>
          <p:cNvSpPr txBox="1"/>
          <p:nvPr/>
        </p:nvSpPr>
        <p:spPr>
          <a:xfrm>
            <a:off x="6419600" y="2860835"/>
            <a:ext cx="51117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highlight>
                  <a:srgbClr val="F8FAFC"/>
                </a:highlight>
                <a:latin typeface="Plus Jakarta Sans"/>
                <a:ea typeface="Plus Jakarta Sans"/>
                <a:cs typeface="Plus Jakarta Sans"/>
                <a:sym typeface="Plus Jakarta Sans"/>
              </a:rPr>
              <a:t>No Voucher (78.9%), Free Ongkir (79.4%), Cashback (78.3%), and Diskon Persen (79.2%) yield virtually identical repeat rates.</a:t>
            </a:r>
            <a:endParaRPr sz="1350"/>
          </a:p>
        </p:txBody>
      </p:sp>
      <p:sp>
        <p:nvSpPr>
          <p:cNvPr id="260" name="Google Shape;260;p23"/>
          <p:cNvSpPr txBox="1"/>
          <p:nvPr/>
        </p:nvSpPr>
        <p:spPr>
          <a:xfrm>
            <a:off x="6419600" y="3739685"/>
            <a:ext cx="5626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SzPts val="1100"/>
              <a:buNone/>
            </a:pPr>
            <a:r>
              <a:rPr b="1" lang="en-US" sz="16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Subsidies Subsidize Baseline Demand</a:t>
            </a:r>
            <a:endParaRPr b="1" sz="16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61" name="Google Shape;261;p23"/>
          <p:cNvSpPr txBox="1"/>
          <p:nvPr/>
        </p:nvSpPr>
        <p:spPr>
          <a:xfrm>
            <a:off x="6419600" y="4082585"/>
            <a:ext cx="51117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highlight>
                  <a:srgbClr val="F8FAFC"/>
                </a:highlight>
                <a:latin typeface="Plus Jakarta Sans"/>
                <a:ea typeface="Plus Jakarta Sans"/>
                <a:cs typeface="Plus Jakarta Sans"/>
                <a:sym typeface="Plus Jakarta Sans"/>
              </a:rPr>
              <a:t>Users acquired without any voucher return at the same frequency as users given expensive cashback or free shipping.</a:t>
            </a:r>
            <a:endParaRPr sz="1350"/>
          </a:p>
        </p:txBody>
      </p:sp>
      <p:sp>
        <p:nvSpPr>
          <p:cNvPr id="262" name="Google Shape;262;p23"/>
          <p:cNvSpPr/>
          <p:nvPr/>
        </p:nvSpPr>
        <p:spPr>
          <a:xfrm>
            <a:off x="6152900" y="2462273"/>
            <a:ext cx="38100" cy="857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6152900" y="3739685"/>
            <a:ext cx="38100" cy="857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/>
          <p:nvPr/>
        </p:nvSpPr>
        <p:spPr>
          <a:xfrm>
            <a:off x="6152900" y="4953135"/>
            <a:ext cx="38100" cy="857400"/>
          </a:xfrm>
          <a:prstGeom prst="rect">
            <a:avLst/>
          </a:prstGeom>
          <a:solidFill>
            <a:srgbClr val="03AC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3"/>
          <p:cNvSpPr txBox="1"/>
          <p:nvPr/>
        </p:nvSpPr>
        <p:spPr>
          <a:xfrm>
            <a:off x="6419600" y="4956335"/>
            <a:ext cx="5626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SzPts val="1100"/>
              <a:buNone/>
            </a:pPr>
            <a:r>
              <a:rPr b="1" lang="en-US" sz="16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Reallocation Opportunity</a:t>
            </a:r>
            <a:endParaRPr b="1" sz="16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66" name="Google Shape;266;p23"/>
          <p:cNvSpPr txBox="1"/>
          <p:nvPr/>
        </p:nvSpPr>
        <p:spPr>
          <a:xfrm>
            <a:off x="6419600" y="5299235"/>
            <a:ext cx="51117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highlight>
                  <a:srgbClr val="F8FAFC"/>
                </a:highlight>
                <a:latin typeface="Plus Jakarta Sans"/>
                <a:ea typeface="Plus Jakarta Sans"/>
                <a:cs typeface="Plus Jakarta Sans"/>
                <a:sym typeface="Plus Jakarta Sans"/>
              </a:rPr>
              <a:t>Eliminate broad first-purchase voucher blasts and reserve subsidies for Milestone 2nd-order triggers.</a:t>
            </a:r>
            <a:endParaRPr sz="13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4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pc="75" sz="1050">
                <a:solidFill>
                  <a:srgbClr val="03AC0E"/>
                </a:solidFill>
                <a:highlight>
                  <a:srgbClr val="FFFFFF"/>
                </a:highlight>
                <a:latin typeface="Plus Jakarta Sans"/>
                <a:ea typeface="Plus Jakarta Sans"/>
                <a:cs typeface="Plus Jakarta Sans"/>
                <a:sym typeface="Plus Jakarta Sans"/>
              </a:rPr>
              <a:t>SHIPPING COST SENSITIVITY</a:t>
            </a:r>
            <a:endParaRPr/>
          </a:p>
        </p:txBody>
      </p:sp>
      <p:sp>
        <p:nvSpPr>
          <p:cNvPr id="272" name="Google Shape;272;p24"/>
          <p:cNvSpPr txBox="1"/>
          <p:nvPr/>
        </p:nvSpPr>
        <p:spPr>
          <a:xfrm>
            <a:off x="609600" y="704850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SzPts val="1100"/>
              <a:buNone/>
            </a:pPr>
            <a:r>
              <a:rPr b="1" lang="en-US" sz="2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User Churn Rate by Shipping Cost Tier</a:t>
            </a:r>
            <a:endParaRPr b="1" sz="24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73" name="Google Shape;273;p24"/>
          <p:cNvSpPr/>
          <p:nvPr/>
        </p:nvSpPr>
        <p:spPr>
          <a:xfrm>
            <a:off x="6152900" y="2633260"/>
            <a:ext cx="5283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4"/>
          <p:cNvSpPr/>
          <p:nvPr/>
        </p:nvSpPr>
        <p:spPr>
          <a:xfrm>
            <a:off x="6152900" y="4537810"/>
            <a:ext cx="5283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4"/>
          <p:cNvSpPr txBox="1"/>
          <p:nvPr/>
        </p:nvSpPr>
        <p:spPr>
          <a:xfrm>
            <a:off x="6419600" y="2474410"/>
            <a:ext cx="562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SzPts val="1100"/>
              <a:buNone/>
            </a:pPr>
            <a:r>
              <a:rPr b="1" lang="en-US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Stable Churn Across Price Tiers</a:t>
            </a:r>
            <a:endParaRPr b="1" sz="16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76" name="Google Shape;276;p24"/>
          <p:cNvSpPr txBox="1"/>
          <p:nvPr/>
        </p:nvSpPr>
        <p:spPr>
          <a:xfrm>
            <a:off x="6419600" y="2860835"/>
            <a:ext cx="511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5569"/>
                </a:solidFill>
                <a:highlight>
                  <a:srgbClr val="F8FAFC"/>
                </a:highlight>
                <a:latin typeface="Plus Jakarta Sans"/>
                <a:ea typeface="Plus Jakarta Sans"/>
                <a:cs typeface="Plus Jakarta Sans"/>
                <a:sym typeface="Plus Jakarta Sans"/>
              </a:rPr>
              <a:t>Low shipping fees (1k–5k) produce 23.9% churn, while Medium fees (5k–15k) produce 20.4% churn.</a:t>
            </a:r>
            <a:endParaRPr sz="1350"/>
          </a:p>
        </p:txBody>
      </p:sp>
      <p:sp>
        <p:nvSpPr>
          <p:cNvPr id="277" name="Google Shape;277;p24"/>
          <p:cNvSpPr txBox="1"/>
          <p:nvPr/>
        </p:nvSpPr>
        <p:spPr>
          <a:xfrm>
            <a:off x="6401125" y="3910285"/>
            <a:ext cx="562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SzPts val="1100"/>
              <a:buNone/>
            </a:pPr>
            <a:r>
              <a:rPr b="1" lang="en-US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Shipping Fee Is Not the Primary Churn Driver</a:t>
            </a:r>
            <a:endParaRPr b="1" sz="16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78" name="Google Shape;278;p24"/>
          <p:cNvSpPr txBox="1"/>
          <p:nvPr/>
        </p:nvSpPr>
        <p:spPr>
          <a:xfrm>
            <a:off x="6401125" y="4364735"/>
            <a:ext cx="511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5569"/>
                </a:solidFill>
                <a:highlight>
                  <a:srgbClr val="F8FAFC"/>
                </a:highlight>
                <a:latin typeface="Plus Jakarta Sans"/>
                <a:ea typeface="Plus Jakarta Sans"/>
                <a:cs typeface="Plus Jakarta Sans"/>
                <a:sym typeface="Plus Jakarta Sans"/>
              </a:rPr>
              <a:t>Users tolerate moderate shipping costs without dropping off; churn is instead driven by delivery speed and courier rating.</a:t>
            </a:r>
            <a:endParaRPr sz="1350"/>
          </a:p>
        </p:txBody>
      </p:sp>
      <p:sp>
        <p:nvSpPr>
          <p:cNvPr id="279" name="Google Shape;279;p24"/>
          <p:cNvSpPr/>
          <p:nvPr/>
        </p:nvSpPr>
        <p:spPr>
          <a:xfrm>
            <a:off x="6152900" y="2462273"/>
            <a:ext cx="38100" cy="857400"/>
          </a:xfrm>
          <a:prstGeom prst="rect">
            <a:avLst/>
          </a:prstGeom>
          <a:solidFill>
            <a:srgbClr val="03AC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4"/>
          <p:cNvSpPr/>
          <p:nvPr/>
        </p:nvSpPr>
        <p:spPr>
          <a:xfrm>
            <a:off x="6152900" y="3910285"/>
            <a:ext cx="38100" cy="857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1" name="Google Shape;28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675" y="2280488"/>
            <a:ext cx="5848100" cy="3172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5"/>
          <p:cNvSpPr txBox="1"/>
          <p:nvPr/>
        </p:nvSpPr>
        <p:spPr>
          <a:xfrm>
            <a:off x="762000" y="2360414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3AC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PART II</a:t>
            </a:r>
            <a:endParaRPr/>
          </a:p>
        </p:txBody>
      </p:sp>
      <p:sp>
        <p:nvSpPr>
          <p:cNvPr id="287" name="Google Shape;287;p25"/>
          <p:cNvSpPr txBox="1"/>
          <p:nvPr/>
        </p:nvSpPr>
        <p:spPr>
          <a:xfrm>
            <a:off x="762000" y="2684264"/>
            <a:ext cx="8101012" cy="1051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Logistics Bottleneck &amp; SLA Impact</a:t>
            </a:r>
            <a:endParaRPr/>
          </a:p>
        </p:txBody>
      </p:sp>
      <p:sp>
        <p:nvSpPr>
          <p:cNvPr id="288" name="Google Shape;288;p25"/>
          <p:cNvSpPr txBox="1"/>
          <p:nvPr/>
        </p:nvSpPr>
        <p:spPr>
          <a:xfrm>
            <a:off x="762000" y="3926085"/>
            <a:ext cx="6000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Why delivery performance is the real hidden driver of platform retention.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6"/>
          <p:cNvSpPr/>
          <p:nvPr/>
        </p:nvSpPr>
        <p:spPr>
          <a:xfrm>
            <a:off x="609600" y="2706885"/>
            <a:ext cx="5334000" cy="2362200"/>
          </a:xfrm>
          <a:prstGeom prst="roundRect">
            <a:avLst>
              <a:gd fmla="val 5645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6"/>
          <p:cNvSpPr/>
          <p:nvPr/>
        </p:nvSpPr>
        <p:spPr>
          <a:xfrm>
            <a:off x="6248400" y="2706885"/>
            <a:ext cx="5334000" cy="2362200"/>
          </a:xfrm>
          <a:prstGeom prst="roundRect">
            <a:avLst>
              <a:gd fmla="val 5645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6"/>
          <p:cNvSpPr/>
          <p:nvPr/>
        </p:nvSpPr>
        <p:spPr>
          <a:xfrm>
            <a:off x="609600" y="2706885"/>
            <a:ext cx="5334000" cy="38100"/>
          </a:xfrm>
          <a:prstGeom prst="rect">
            <a:avLst/>
          </a:prstGeom>
          <a:solidFill>
            <a:srgbClr val="03AC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6"/>
          <p:cNvSpPr/>
          <p:nvPr/>
        </p:nvSpPr>
        <p:spPr>
          <a:xfrm>
            <a:off x="6248400" y="2706885"/>
            <a:ext cx="533400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7" name="Google Shape;29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00" y="308788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1300" y="308788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F44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OPERATIONAL FRICTION</a:t>
            </a:r>
            <a:endParaRPr/>
          </a:p>
        </p:txBody>
      </p:sp>
      <p:sp>
        <p:nvSpPr>
          <p:cNvPr id="300" name="Google Shape;300;p26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First Delivery Experience Dictates Retention</a:t>
            </a:r>
            <a:endParaRPr/>
          </a:p>
        </p:txBody>
      </p:sp>
      <p:sp>
        <p:nvSpPr>
          <p:cNvPr id="301" name="Google Shape;301;p26"/>
          <p:cNvSpPr txBox="1"/>
          <p:nvPr/>
        </p:nvSpPr>
        <p:spPr>
          <a:xfrm>
            <a:off x="952500" y="3545085"/>
            <a:ext cx="610076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On-Time Delivery</a:t>
            </a:r>
            <a:endParaRPr/>
          </a:p>
        </p:txBody>
      </p:sp>
      <p:sp>
        <p:nvSpPr>
          <p:cNvPr id="302" name="Google Shape;302;p26"/>
          <p:cNvSpPr txBox="1"/>
          <p:nvPr/>
        </p:nvSpPr>
        <p:spPr>
          <a:xfrm>
            <a:off x="952500" y="3859410"/>
            <a:ext cx="58102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83.0%</a:t>
            </a:r>
            <a:endParaRPr/>
          </a:p>
        </p:txBody>
      </p:sp>
      <p:sp>
        <p:nvSpPr>
          <p:cNvPr id="303" name="Google Shape;303;p26"/>
          <p:cNvSpPr txBox="1"/>
          <p:nvPr/>
        </p:nvSpPr>
        <p:spPr>
          <a:xfrm>
            <a:off x="952500" y="4507110"/>
            <a:ext cx="58102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Repeat purchase rate within 90 days.</a:t>
            </a:r>
            <a:endParaRPr/>
          </a:p>
        </p:txBody>
      </p:sp>
      <p:sp>
        <p:nvSpPr>
          <p:cNvPr id="304" name="Google Shape;304;p26"/>
          <p:cNvSpPr txBox="1"/>
          <p:nvPr/>
        </p:nvSpPr>
        <p:spPr>
          <a:xfrm>
            <a:off x="6591300" y="3545085"/>
            <a:ext cx="5600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Late Delivery</a:t>
            </a:r>
            <a:endParaRPr/>
          </a:p>
        </p:txBody>
      </p:sp>
      <p:sp>
        <p:nvSpPr>
          <p:cNvPr id="305" name="Google Shape;305;p26"/>
          <p:cNvSpPr txBox="1"/>
          <p:nvPr/>
        </p:nvSpPr>
        <p:spPr>
          <a:xfrm>
            <a:off x="6591300" y="3859410"/>
            <a:ext cx="56007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EF4444"/>
                </a:solidFill>
                <a:latin typeface="Space Grotesk"/>
                <a:ea typeface="Space Grotesk"/>
                <a:cs typeface="Space Grotesk"/>
                <a:sym typeface="Space Grotesk"/>
              </a:rPr>
              <a:t>71.6%</a:t>
            </a:r>
            <a:endParaRPr/>
          </a:p>
        </p:txBody>
      </p:sp>
      <p:sp>
        <p:nvSpPr>
          <p:cNvPr id="306" name="Google Shape;306;p26"/>
          <p:cNvSpPr txBox="1"/>
          <p:nvPr/>
        </p:nvSpPr>
        <p:spPr>
          <a:xfrm>
            <a:off x="6591300" y="4507110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11.4 percentage point retention drop.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7"/>
          <p:cNvSpPr/>
          <p:nvPr/>
        </p:nvSpPr>
        <p:spPr>
          <a:xfrm>
            <a:off x="609600" y="3125985"/>
            <a:ext cx="2600325" cy="1524000"/>
          </a:xfrm>
          <a:prstGeom prst="roundRect">
            <a:avLst>
              <a:gd fmla="val 7500" name="adj"/>
            </a:avLst>
          </a:prstGeom>
          <a:solidFill>
            <a:srgbClr val="FE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7"/>
          <p:cNvSpPr/>
          <p:nvPr/>
        </p:nvSpPr>
        <p:spPr>
          <a:xfrm>
            <a:off x="3400425" y="3125985"/>
            <a:ext cx="2600325" cy="1524000"/>
          </a:xfrm>
          <a:prstGeom prst="roundRect">
            <a:avLst>
              <a:gd fmla="val 750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7"/>
          <p:cNvSpPr/>
          <p:nvPr/>
        </p:nvSpPr>
        <p:spPr>
          <a:xfrm>
            <a:off x="6191250" y="3125985"/>
            <a:ext cx="2600325" cy="1524000"/>
          </a:xfrm>
          <a:prstGeom prst="roundRect">
            <a:avLst>
              <a:gd fmla="val 7500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highlight>
                <a:schemeClr val="dk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7"/>
          <p:cNvSpPr/>
          <p:nvPr/>
        </p:nvSpPr>
        <p:spPr>
          <a:xfrm>
            <a:off x="8982075" y="3125985"/>
            <a:ext cx="2600325" cy="1524000"/>
          </a:xfrm>
          <a:prstGeom prst="roundRect">
            <a:avLst>
              <a:gd fmla="val 7500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F44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QUALITY METRICS</a:t>
            </a:r>
            <a:endParaRPr/>
          </a:p>
        </p:txBody>
      </p:sp>
      <p:sp>
        <p:nvSpPr>
          <p:cNvPr id="316" name="Google Shape;316;p27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Courier Rating Churn Cliff</a:t>
            </a:r>
            <a:endParaRPr/>
          </a:p>
        </p:txBody>
      </p:sp>
      <p:sp>
        <p:nvSpPr>
          <p:cNvPr id="317" name="Google Shape;317;p27"/>
          <p:cNvSpPr txBox="1"/>
          <p:nvPr/>
        </p:nvSpPr>
        <p:spPr>
          <a:xfrm>
            <a:off x="617934" y="3392685"/>
            <a:ext cx="258365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Poor (&lt; 3.0)</a:t>
            </a:r>
            <a:endParaRPr/>
          </a:p>
        </p:txBody>
      </p:sp>
      <p:sp>
        <p:nvSpPr>
          <p:cNvPr id="318" name="Google Shape;318;p27"/>
          <p:cNvSpPr txBox="1"/>
          <p:nvPr/>
        </p:nvSpPr>
        <p:spPr>
          <a:xfrm>
            <a:off x="617934" y="3668910"/>
            <a:ext cx="25836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DC2626"/>
                </a:solidFill>
                <a:latin typeface="Space Grotesk"/>
                <a:ea typeface="Space Grotesk"/>
                <a:cs typeface="Space Grotesk"/>
                <a:sym typeface="Space Grotesk"/>
              </a:rPr>
              <a:t>69.6%</a:t>
            </a:r>
            <a:endParaRPr/>
          </a:p>
        </p:txBody>
      </p:sp>
      <p:sp>
        <p:nvSpPr>
          <p:cNvPr id="319" name="Google Shape;319;p27"/>
          <p:cNvSpPr txBox="1"/>
          <p:nvPr/>
        </p:nvSpPr>
        <p:spPr>
          <a:xfrm>
            <a:off x="617934" y="4202310"/>
            <a:ext cx="2583656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7F1D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Severe churn rate.</a:t>
            </a:r>
            <a:endParaRPr/>
          </a:p>
        </p:txBody>
      </p:sp>
      <p:sp>
        <p:nvSpPr>
          <p:cNvPr id="320" name="Google Shape;320;p27"/>
          <p:cNvSpPr txBox="1"/>
          <p:nvPr/>
        </p:nvSpPr>
        <p:spPr>
          <a:xfrm>
            <a:off x="3408759" y="3392685"/>
            <a:ext cx="258365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Average (3.0–4.0)</a:t>
            </a:r>
            <a:endParaRPr/>
          </a:p>
        </p:txBody>
      </p:sp>
      <p:sp>
        <p:nvSpPr>
          <p:cNvPr id="321" name="Google Shape;321;p27"/>
          <p:cNvSpPr txBox="1"/>
          <p:nvPr/>
        </p:nvSpPr>
        <p:spPr>
          <a:xfrm>
            <a:off x="3408759" y="3668910"/>
            <a:ext cx="25836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24.5%</a:t>
            </a:r>
            <a:endParaRPr/>
          </a:p>
        </p:txBody>
      </p:sp>
      <p:sp>
        <p:nvSpPr>
          <p:cNvPr id="322" name="Google Shape;322;p27"/>
          <p:cNvSpPr txBox="1"/>
          <p:nvPr/>
        </p:nvSpPr>
        <p:spPr>
          <a:xfrm>
            <a:off x="3408759" y="4202310"/>
            <a:ext cx="2583656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Moderate churn risk.</a:t>
            </a:r>
            <a:endParaRPr/>
          </a:p>
        </p:txBody>
      </p:sp>
      <p:sp>
        <p:nvSpPr>
          <p:cNvPr id="323" name="Google Shape;323;p27"/>
          <p:cNvSpPr txBox="1"/>
          <p:nvPr/>
        </p:nvSpPr>
        <p:spPr>
          <a:xfrm>
            <a:off x="6199584" y="3392685"/>
            <a:ext cx="2583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Good (4.0–4.5)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324" name="Google Shape;324;p27"/>
          <p:cNvSpPr txBox="1"/>
          <p:nvPr/>
        </p:nvSpPr>
        <p:spPr>
          <a:xfrm>
            <a:off x="6199584" y="3668910"/>
            <a:ext cx="2583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3AC0E"/>
                </a:solidFill>
                <a:latin typeface="Space Grotesk"/>
                <a:ea typeface="Space Grotesk"/>
                <a:cs typeface="Space Grotesk"/>
                <a:sym typeface="Space Grotesk"/>
              </a:rPr>
              <a:t>15.7%</a:t>
            </a:r>
            <a:endParaRPr>
              <a:solidFill>
                <a:srgbClr val="03AC0E"/>
              </a:solidFill>
            </a:endParaRPr>
          </a:p>
        </p:txBody>
      </p:sp>
      <p:sp>
        <p:nvSpPr>
          <p:cNvPr id="325" name="Google Shape;325;p27"/>
          <p:cNvSpPr txBox="1"/>
          <p:nvPr/>
        </p:nvSpPr>
        <p:spPr>
          <a:xfrm>
            <a:off x="6199584" y="4202310"/>
            <a:ext cx="25836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274E1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Lowest overall churn.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326" name="Google Shape;326;p27"/>
          <p:cNvSpPr txBox="1"/>
          <p:nvPr/>
        </p:nvSpPr>
        <p:spPr>
          <a:xfrm>
            <a:off x="8990409" y="3392685"/>
            <a:ext cx="2583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Excellent (4.5–5.0)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327" name="Google Shape;327;p27"/>
          <p:cNvSpPr txBox="1"/>
          <p:nvPr/>
        </p:nvSpPr>
        <p:spPr>
          <a:xfrm>
            <a:off x="8990409" y="3668910"/>
            <a:ext cx="2583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3AC0E"/>
                </a:solidFill>
                <a:latin typeface="Space Grotesk"/>
                <a:ea typeface="Space Grotesk"/>
                <a:cs typeface="Space Grotesk"/>
                <a:sym typeface="Space Grotesk"/>
              </a:rPr>
              <a:t>20.4%</a:t>
            </a:r>
            <a:endParaRPr>
              <a:solidFill>
                <a:srgbClr val="03AC0E"/>
              </a:solidFill>
            </a:endParaRPr>
          </a:p>
        </p:txBody>
      </p:sp>
      <p:sp>
        <p:nvSpPr>
          <p:cNvPr id="328" name="Google Shape;328;p27"/>
          <p:cNvSpPr txBox="1"/>
          <p:nvPr/>
        </p:nvSpPr>
        <p:spPr>
          <a:xfrm>
            <a:off x="8990409" y="4202310"/>
            <a:ext cx="25836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274E1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Stable high-volume core.</a:t>
            </a:r>
            <a:endParaRPr>
              <a:solidFill>
                <a:srgbClr val="274E13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8"/>
          <p:cNvSpPr/>
          <p:nvPr/>
        </p:nvSpPr>
        <p:spPr>
          <a:xfrm>
            <a:off x="6798915" y="2278260"/>
            <a:ext cx="4783484" cy="933450"/>
          </a:xfrm>
          <a:prstGeom prst="roundRect">
            <a:avLst>
              <a:gd fmla="val 1224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8"/>
          <p:cNvSpPr/>
          <p:nvPr/>
        </p:nvSpPr>
        <p:spPr>
          <a:xfrm>
            <a:off x="6798915" y="3402210"/>
            <a:ext cx="4783484" cy="933450"/>
          </a:xfrm>
          <a:prstGeom prst="roundRect">
            <a:avLst>
              <a:gd fmla="val 1224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8"/>
          <p:cNvSpPr/>
          <p:nvPr/>
        </p:nvSpPr>
        <p:spPr>
          <a:xfrm>
            <a:off x="6798915" y="4526160"/>
            <a:ext cx="4783484" cy="933450"/>
          </a:xfrm>
          <a:prstGeom prst="roundRect">
            <a:avLst>
              <a:gd fmla="val 1224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36" name="Google Shape;33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773435"/>
            <a:ext cx="5846415" cy="419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3AC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SUPPLY CHAIN REALITY</a:t>
            </a:r>
            <a:endParaRPr/>
          </a:p>
        </p:txBody>
      </p:sp>
      <p:sp>
        <p:nvSpPr>
          <p:cNvPr id="338" name="Google Shape;338;p28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Logistics Reliability as a Marketing Channel</a:t>
            </a:r>
            <a:endParaRPr/>
          </a:p>
        </p:txBody>
      </p:sp>
      <p:sp>
        <p:nvSpPr>
          <p:cNvPr id="339" name="Google Shape;339;p28"/>
          <p:cNvSpPr txBox="1"/>
          <p:nvPr/>
        </p:nvSpPr>
        <p:spPr>
          <a:xfrm>
            <a:off x="7027515" y="2506860"/>
            <a:ext cx="516448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Service Deficit Negates Promos</a:t>
            </a:r>
            <a:endParaRPr/>
          </a:p>
        </p:txBody>
      </p:sp>
      <p:sp>
        <p:nvSpPr>
          <p:cNvPr id="340" name="Google Shape;340;p28"/>
          <p:cNvSpPr txBox="1"/>
          <p:nvPr/>
        </p:nvSpPr>
        <p:spPr>
          <a:xfrm>
            <a:off x="7027515" y="2783085"/>
            <a:ext cx="5164484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 promo size overcomes a broken delivery promise.</a:t>
            </a:r>
            <a:endParaRPr/>
          </a:p>
        </p:txBody>
      </p:sp>
      <p:sp>
        <p:nvSpPr>
          <p:cNvPr id="341" name="Google Shape;341;p28"/>
          <p:cNvSpPr txBox="1"/>
          <p:nvPr/>
        </p:nvSpPr>
        <p:spPr>
          <a:xfrm>
            <a:off x="7027515" y="3630810"/>
            <a:ext cx="516448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Partner Accountabilities</a:t>
            </a:r>
            <a:endParaRPr/>
          </a:p>
        </p:txBody>
      </p:sp>
      <p:sp>
        <p:nvSpPr>
          <p:cNvPr id="342" name="Google Shape;342;p28"/>
          <p:cNvSpPr txBox="1"/>
          <p:nvPr/>
        </p:nvSpPr>
        <p:spPr>
          <a:xfrm>
            <a:off x="7027515" y="3907035"/>
            <a:ext cx="5164484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Bottom-tier couriers degrade platform retention.</a:t>
            </a:r>
            <a:endParaRPr/>
          </a:p>
        </p:txBody>
      </p:sp>
      <p:sp>
        <p:nvSpPr>
          <p:cNvPr id="343" name="Google Shape;343;p28"/>
          <p:cNvSpPr txBox="1"/>
          <p:nvPr/>
        </p:nvSpPr>
        <p:spPr>
          <a:xfrm>
            <a:off x="7027515" y="4754760"/>
            <a:ext cx="516448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SLA Subsidies</a:t>
            </a:r>
            <a:endParaRPr/>
          </a:p>
        </p:txBody>
      </p:sp>
      <p:sp>
        <p:nvSpPr>
          <p:cNvPr id="344" name="Google Shape;344;p28"/>
          <p:cNvSpPr txBox="1"/>
          <p:nvPr/>
        </p:nvSpPr>
        <p:spPr>
          <a:xfrm>
            <a:off x="7027515" y="5030985"/>
            <a:ext cx="5164484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Tie free shipping directly to courier SLA compliance.</a:t>
            </a:r>
            <a:endParaRPr/>
          </a:p>
        </p:txBody>
      </p:sp>
      <p:pic>
        <p:nvPicPr>
          <p:cNvPr id="345" name="Google Shape;34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600" y="1773425"/>
            <a:ext cx="5938602" cy="4190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9"/>
          <p:cNvSpPr/>
          <p:nvPr/>
        </p:nvSpPr>
        <p:spPr>
          <a:xfrm>
            <a:off x="609600" y="3064073"/>
            <a:ext cx="3505200" cy="1686000"/>
          </a:xfrm>
          <a:prstGeom prst="roundRect">
            <a:avLst>
              <a:gd fmla="val 790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9"/>
          <p:cNvSpPr/>
          <p:nvPr/>
        </p:nvSpPr>
        <p:spPr>
          <a:xfrm>
            <a:off x="4343400" y="3064073"/>
            <a:ext cx="3505200" cy="1686000"/>
          </a:xfrm>
          <a:prstGeom prst="roundRect">
            <a:avLst>
              <a:gd fmla="val 790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9"/>
          <p:cNvSpPr/>
          <p:nvPr/>
        </p:nvSpPr>
        <p:spPr>
          <a:xfrm>
            <a:off x="8077200" y="3064073"/>
            <a:ext cx="3505200" cy="1686000"/>
          </a:xfrm>
          <a:prstGeom prst="roundRect">
            <a:avLst>
              <a:gd fmla="val 790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9"/>
          <p:cNvSpPr/>
          <p:nvPr/>
        </p:nvSpPr>
        <p:spPr>
          <a:xfrm>
            <a:off x="609600" y="3064073"/>
            <a:ext cx="3505200" cy="38100"/>
          </a:xfrm>
          <a:prstGeom prst="rect">
            <a:avLst/>
          </a:prstGeom>
          <a:solidFill>
            <a:srgbClr val="03AC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9"/>
          <p:cNvSpPr/>
          <p:nvPr/>
        </p:nvSpPr>
        <p:spPr>
          <a:xfrm>
            <a:off x="4343400" y="3064073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9"/>
          <p:cNvSpPr/>
          <p:nvPr/>
        </p:nvSpPr>
        <p:spPr>
          <a:xfrm>
            <a:off x="8077200" y="3064073"/>
            <a:ext cx="35052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9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pc="75" sz="1050">
                <a:solidFill>
                  <a:srgbClr val="03AC0E"/>
                </a:solidFill>
                <a:highlight>
                  <a:srgbClr val="FFFFFF"/>
                </a:highlight>
                <a:latin typeface="Plus Jakarta Sans"/>
                <a:ea typeface="Plus Jakarta Sans"/>
                <a:cs typeface="Plus Jakarta Sans"/>
                <a:sym typeface="Plus Jakarta Sans"/>
              </a:rPr>
              <a:t>STUDY BOUNDARIES</a:t>
            </a:r>
            <a:endParaRPr>
              <a:solidFill>
                <a:srgbClr val="03AC0E"/>
              </a:solidFill>
            </a:endParaRPr>
          </a:p>
        </p:txBody>
      </p:sp>
      <p:sp>
        <p:nvSpPr>
          <p:cNvPr id="357" name="Google Shape;357;p29"/>
          <p:cNvSpPr txBox="1"/>
          <p:nvPr/>
        </p:nvSpPr>
        <p:spPr>
          <a:xfrm>
            <a:off x="609600" y="704850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2700"/>
              </a:spcAft>
              <a:buSzPts val="1100"/>
              <a:buNone/>
            </a:pPr>
            <a:r>
              <a:rPr b="1" lang="en-US" sz="2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Strategic Recommendations &amp; Action Plan</a:t>
            </a:r>
            <a:endParaRPr b="1" sz="24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58" name="Google Shape;358;p29"/>
          <p:cNvSpPr txBox="1"/>
          <p:nvPr/>
        </p:nvSpPr>
        <p:spPr>
          <a:xfrm>
            <a:off x="914400" y="3406973"/>
            <a:ext cx="3619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PHASE 1</a:t>
            </a:r>
            <a:endParaRPr/>
          </a:p>
        </p:txBody>
      </p:sp>
      <p:sp>
        <p:nvSpPr>
          <p:cNvPr id="359" name="Google Shape;359;p29"/>
          <p:cNvSpPr txBox="1"/>
          <p:nvPr/>
        </p:nvSpPr>
        <p:spPr>
          <a:xfrm>
            <a:off x="914400" y="3654623"/>
            <a:ext cx="3800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Promo Restructure</a:t>
            </a:r>
            <a:endParaRPr/>
          </a:p>
        </p:txBody>
      </p:sp>
      <p:sp>
        <p:nvSpPr>
          <p:cNvPr id="360" name="Google Shape;360;p29"/>
          <p:cNvSpPr txBox="1"/>
          <p:nvPr/>
        </p:nvSpPr>
        <p:spPr>
          <a:xfrm>
            <a:off x="914400" y="4007048"/>
            <a:ext cx="361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Milestone cashback on order #2.</a:t>
            </a:r>
            <a:endParaRPr/>
          </a:p>
        </p:txBody>
      </p:sp>
      <p:sp>
        <p:nvSpPr>
          <p:cNvPr id="361" name="Google Shape;361;p29"/>
          <p:cNvSpPr txBox="1"/>
          <p:nvPr/>
        </p:nvSpPr>
        <p:spPr>
          <a:xfrm>
            <a:off x="4648200" y="3406973"/>
            <a:ext cx="3619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PHASE 2</a:t>
            </a:r>
            <a:endParaRPr/>
          </a:p>
        </p:txBody>
      </p:sp>
      <p:sp>
        <p:nvSpPr>
          <p:cNvPr id="362" name="Google Shape;362;p29"/>
          <p:cNvSpPr txBox="1"/>
          <p:nvPr/>
        </p:nvSpPr>
        <p:spPr>
          <a:xfrm>
            <a:off x="4648200" y="3654623"/>
            <a:ext cx="3800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Logistics SLAs</a:t>
            </a:r>
            <a:endParaRPr/>
          </a:p>
        </p:txBody>
      </p:sp>
      <p:sp>
        <p:nvSpPr>
          <p:cNvPr id="363" name="Google Shape;363;p29"/>
          <p:cNvSpPr txBox="1"/>
          <p:nvPr/>
        </p:nvSpPr>
        <p:spPr>
          <a:xfrm>
            <a:off x="4648200" y="4007048"/>
            <a:ext cx="361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Auto-penalties on late couriers.</a:t>
            </a:r>
            <a:endParaRPr/>
          </a:p>
        </p:txBody>
      </p:sp>
      <p:sp>
        <p:nvSpPr>
          <p:cNvPr id="364" name="Google Shape;364;p29"/>
          <p:cNvSpPr txBox="1"/>
          <p:nvPr/>
        </p:nvSpPr>
        <p:spPr>
          <a:xfrm>
            <a:off x="8382000" y="3406973"/>
            <a:ext cx="3619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366F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PHASE 3</a:t>
            </a:r>
            <a:endParaRPr/>
          </a:p>
        </p:txBody>
      </p:sp>
      <p:sp>
        <p:nvSpPr>
          <p:cNvPr id="365" name="Google Shape;365;p29"/>
          <p:cNvSpPr txBox="1"/>
          <p:nvPr/>
        </p:nvSpPr>
        <p:spPr>
          <a:xfrm>
            <a:off x="8382000" y="3654623"/>
            <a:ext cx="3800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Referral Scaling</a:t>
            </a:r>
            <a:endParaRPr/>
          </a:p>
        </p:txBody>
      </p:sp>
      <p:sp>
        <p:nvSpPr>
          <p:cNvPr id="366" name="Google Shape;366;p29"/>
          <p:cNvSpPr txBox="1"/>
          <p:nvPr/>
        </p:nvSpPr>
        <p:spPr>
          <a:xfrm>
            <a:off x="8382000" y="4007048"/>
            <a:ext cx="299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Reallocate budget to advocacy.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0"/>
          <p:cNvSpPr/>
          <p:nvPr/>
        </p:nvSpPr>
        <p:spPr>
          <a:xfrm>
            <a:off x="609600" y="3064073"/>
            <a:ext cx="3505200" cy="1685925"/>
          </a:xfrm>
          <a:prstGeom prst="roundRect">
            <a:avLst>
              <a:gd fmla="val 790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0"/>
          <p:cNvSpPr/>
          <p:nvPr/>
        </p:nvSpPr>
        <p:spPr>
          <a:xfrm>
            <a:off x="4343400" y="3064073"/>
            <a:ext cx="3505200" cy="1685925"/>
          </a:xfrm>
          <a:prstGeom prst="roundRect">
            <a:avLst>
              <a:gd fmla="val 790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0"/>
          <p:cNvSpPr/>
          <p:nvPr/>
        </p:nvSpPr>
        <p:spPr>
          <a:xfrm>
            <a:off x="8077200" y="3064073"/>
            <a:ext cx="3505200" cy="1685925"/>
          </a:xfrm>
          <a:prstGeom prst="roundRect">
            <a:avLst>
              <a:gd fmla="val 790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0"/>
          <p:cNvSpPr/>
          <p:nvPr/>
        </p:nvSpPr>
        <p:spPr>
          <a:xfrm>
            <a:off x="609600" y="3064073"/>
            <a:ext cx="3505200" cy="38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0"/>
          <p:cNvSpPr/>
          <p:nvPr/>
        </p:nvSpPr>
        <p:spPr>
          <a:xfrm>
            <a:off x="4343400" y="3064073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0"/>
          <p:cNvSpPr/>
          <p:nvPr/>
        </p:nvSpPr>
        <p:spPr>
          <a:xfrm>
            <a:off x="8077200" y="3064073"/>
            <a:ext cx="3505200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0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chemeClr val="accent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Boundaries &amp; Limitations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78" name="Google Shape;378;p30"/>
          <p:cNvSpPr txBox="1"/>
          <p:nvPr/>
        </p:nvSpPr>
        <p:spPr>
          <a:xfrm>
            <a:off x="609600" y="704850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2700"/>
              </a:spcAft>
              <a:buSzPts val="1100"/>
              <a:buNone/>
            </a:pPr>
            <a:r>
              <a:rPr b="1" lang="en-US" sz="2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Limitations &amp; Analytical Constraints</a:t>
            </a:r>
            <a:endParaRPr b="1" sz="24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79" name="Google Shape;379;p30"/>
          <p:cNvSpPr txBox="1"/>
          <p:nvPr/>
        </p:nvSpPr>
        <p:spPr>
          <a:xfrm>
            <a:off x="914400" y="3521686"/>
            <a:ext cx="36195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Cohort Horizon Cap</a:t>
            </a:r>
            <a:endParaRPr b="1" sz="15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80" name="Google Shape;380;p30"/>
          <p:cNvSpPr txBox="1"/>
          <p:nvPr/>
        </p:nvSpPr>
        <p:spPr>
          <a:xfrm>
            <a:off x="914400" y="3654623"/>
            <a:ext cx="380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30"/>
          <p:cNvSpPr txBox="1"/>
          <p:nvPr/>
        </p:nvSpPr>
        <p:spPr>
          <a:xfrm>
            <a:off x="914400" y="4007048"/>
            <a:ext cx="3619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highlight>
                  <a:srgbClr val="F8FAFC"/>
                </a:highlight>
                <a:latin typeface="Plus Jakarta Sans"/>
                <a:ea typeface="Plus Jakarta Sans"/>
                <a:cs typeface="Plus Jakarta Sans"/>
                <a:sym typeface="Plus Jakarta Sans"/>
              </a:rPr>
              <a:t>90-day window limits multi-year LTV visibility.</a:t>
            </a:r>
            <a:endParaRPr/>
          </a:p>
        </p:txBody>
      </p:sp>
      <p:sp>
        <p:nvSpPr>
          <p:cNvPr id="382" name="Google Shape;382;p30"/>
          <p:cNvSpPr txBox="1"/>
          <p:nvPr/>
        </p:nvSpPr>
        <p:spPr>
          <a:xfrm>
            <a:off x="4648200" y="3654623"/>
            <a:ext cx="3800400" cy="5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Observational Bias</a:t>
            </a:r>
            <a:endParaRPr b="1" sz="15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83" name="Google Shape;383;p30"/>
          <p:cNvSpPr txBox="1"/>
          <p:nvPr/>
        </p:nvSpPr>
        <p:spPr>
          <a:xfrm>
            <a:off x="4648200" y="4007048"/>
            <a:ext cx="3619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highlight>
                  <a:srgbClr val="F8FAFC"/>
                </a:highlight>
                <a:latin typeface="Plus Jakarta Sans"/>
                <a:ea typeface="Plus Jakarta Sans"/>
                <a:cs typeface="Plus Jakarta Sans"/>
                <a:sym typeface="Plus Jakarta Sans"/>
              </a:rPr>
              <a:t>Historical trends lack randomized A/B holdouts.</a:t>
            </a:r>
            <a:endParaRPr/>
          </a:p>
        </p:txBody>
      </p:sp>
      <p:sp>
        <p:nvSpPr>
          <p:cNvPr id="384" name="Google Shape;384;p30"/>
          <p:cNvSpPr txBox="1"/>
          <p:nvPr/>
        </p:nvSpPr>
        <p:spPr>
          <a:xfrm>
            <a:off x="8382000" y="3654623"/>
            <a:ext cx="3800400" cy="5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Unobserved Competitor Pricing</a:t>
            </a:r>
            <a:endParaRPr b="1" sz="15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85" name="Google Shape;385;p30"/>
          <p:cNvSpPr txBox="1"/>
          <p:nvPr/>
        </p:nvSpPr>
        <p:spPr>
          <a:xfrm>
            <a:off x="8382000" y="4007048"/>
            <a:ext cx="2991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highlight>
                  <a:srgbClr val="F8FAFC"/>
                </a:highlight>
                <a:latin typeface="Plus Jakarta Sans"/>
                <a:ea typeface="Plus Jakarta Sans"/>
                <a:cs typeface="Plus Jakarta Sans"/>
                <a:sym typeface="Plus Jakarta Sans"/>
              </a:rPr>
              <a:t>No external price benchmark against Shopee or TikTok.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